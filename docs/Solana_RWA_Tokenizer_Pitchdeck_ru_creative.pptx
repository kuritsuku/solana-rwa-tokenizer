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Открываем презентацию ценностью: проверяемый real-world asset и рабочий on-chain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о направлении рынка без неподтвержденных TAM-оценок.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причинно-следственную связь: каждая боль закрывается конкретным механизмом.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Инсайты основаны на текущем прототипе и UX-логике потока, без фантазий о невалидированных сегментах.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диаграмма без перегруза деталей, как просит шаблон.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Табличный формат: жюри считывает дифференциатор за 5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 честным статусом: что уже ship, что следующая конкретная цель.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компактный и реалистичный, без перегруза этапами.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вашему запросу: роли без имен, фокус на способность ship-ить продукт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Оставьте только рабочие контакты перед отправкой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Финальная версия для жюри должна быть без этого appendix-слайда.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132320" y="0"/>
            <a:ext cx="5029200" cy="6858000"/>
          </a:xfrm>
          <a:prstGeom prst="rtTriangle">
            <a:avLst/>
          </a:prstGeom>
          <a:solidFill>
            <a:srgbClr val="21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Solana RWA Tokenizer</a:t>
            </a:r>
          </a:p>
          <a:p>
            <a:pPr>
              <a:defRPr sz="1600">
                <a:solidFill>
                  <a:srgbClr val="D4D9EB"/>
                </a:solidFill>
              </a:defRPr>
            </a:pPr>
            <a:r>
              <a:t>Токенизация недвижимости Казахстана с on-chain proof через ЭЦП НУЦ РК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63093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F195"/>
                </a:solidFill>
              </a:defRPr>
            </a:pPr>
            <a:r>
              <a:t>Token-2022 + Anchor + Phantom</a:t>
            </a:r>
          </a:p>
          <a:p>
            <a:pPr>
              <a:defRPr sz="1800" b="0">
                <a:solidFill>
                  <a:srgbClr val="D4D9EB"/>
                </a:solidFill>
              </a:defRPr>
            </a:pPr>
            <a:r>
              <a:t>Доли объекта с прозрачным ownership lifecycle</a:t>
            </a:r>
          </a:p>
          <a:p>
            <a:pPr>
              <a:defRPr sz="1800" b="0">
                <a:solidFill>
                  <a:srgbClr val="D4D9EB"/>
                </a:solidFill>
              </a:defRPr>
            </a:pPr>
            <a:r>
              <a:t>Devnet demo: tokenization -&gt; primary -&gt; secondary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5669280"/>
            <a:ext cx="5303520" cy="685800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6FF"/>
                </a:solidFill>
              </a:defRPr>
            </a:pPr>
            <a:r>
              <a:t>Demo: solana-rwa-tokenizer.vercel.app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394960" cy="448056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Current market state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Дробное инвестирование в недвижимость фрагментировано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Ownership и часть документооборота остаются оффчейн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Высокие издержки на доверие и администрирование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03520" cy="448056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Predicted market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Токенизация переходит от пилотов к инфраструктуре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Институциональные игроки тестируют production сценарии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Требования к compliance и traceability растут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D9EB"/>
                </a:solidFill>
              </a:defRPr>
            </a:pPr>
            <a:r>
              <a:t>Sources: BIS (2025), World Bank (2025), McKinsey (2024/2025)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Problem -&gt;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94960" cy="4572000"/>
          </a:xfrm>
          <a:prstGeom prst="roundRect">
            <a:avLst/>
          </a:prstGeom>
          <a:solidFill>
            <a:srgbClr val="3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937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Problem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Высокий порог входа в недвижимость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Ownership и документы слабо связаны с блокчейном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Доход и secondary оборот непрозрачны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03520" cy="4572000"/>
          </a:xfrm>
          <a:prstGeom prst="roundRect">
            <a:avLst/>
          </a:prstGeom>
          <a:solidFill>
            <a:srgbClr val="18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48463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Solution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Token-2022 доли на Solana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Хэш ЭЦП НУЦ РК фиксируется on-chain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Прозрачный lifecycle: выпуск -&gt; покупка -&gt; перевод -&gt; yield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303520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User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657600" cy="429768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Кто они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Владельцы объектов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Розничные инвесторы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Операторы платформы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657600" cy="429768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Паттерны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Нужен низкий порог входа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Нужна прозрачность ownership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Нужен простой wallet-flow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554480"/>
            <a:ext cx="3108960" cy="4297680"/>
          </a:xfrm>
          <a:prstGeom prst="roundRect">
            <a:avLst/>
          </a:prstGeom>
          <a:solidFill>
            <a:srgbClr val="23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6517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Вывод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Главный барьер — доверие к proof-of-asset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Compliance-поток критичен для масштаба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Tech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468880" cy="137160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dApp</a:t>
            </a:r>
          </a:p>
          <a:p>
            <a:pPr>
              <a:defRPr sz="1300">
                <a:solidFill>
                  <a:srgbClr val="D4D9EB"/>
                </a:solidFill>
              </a:defRPr>
            </a:pPr>
            <a:r>
              <a:t>Next.js + TS</a:t>
            </a:r>
          </a:p>
        </p:txBody>
      </p:sp>
      <p:sp>
        <p:nvSpPr>
          <p:cNvPr id="7" name="Chevron 6"/>
          <p:cNvSpPr/>
          <p:nvPr/>
        </p:nvSpPr>
        <p:spPr>
          <a:xfrm>
            <a:off x="3401568" y="2852928"/>
            <a:ext cx="411480" cy="594360"/>
          </a:xfrm>
          <a:prstGeom prst="chevron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79" y="2468880"/>
            <a:ext cx="2468880" cy="137160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7249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Program</a:t>
            </a:r>
          </a:p>
          <a:p>
            <a:pPr>
              <a:defRPr sz="1300">
                <a:solidFill>
                  <a:srgbClr val="D4D9EB"/>
                </a:solidFill>
              </a:defRPr>
            </a:pPr>
            <a:r>
              <a:t>Anchor (Rust)</a:t>
            </a:r>
          </a:p>
        </p:txBody>
      </p:sp>
      <p:sp>
        <p:nvSpPr>
          <p:cNvPr id="10" name="Chevron 9"/>
          <p:cNvSpPr/>
          <p:nvPr/>
        </p:nvSpPr>
        <p:spPr>
          <a:xfrm>
            <a:off x="6190488" y="2852928"/>
            <a:ext cx="411480" cy="594360"/>
          </a:xfrm>
          <a:prstGeom prst="chevron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2468880" cy="137160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7249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Token layer</a:t>
            </a:r>
          </a:p>
          <a:p>
            <a:pPr>
              <a:defRPr sz="1300">
                <a:solidFill>
                  <a:srgbClr val="D4D9EB"/>
                </a:solidFill>
              </a:defRPr>
            </a:pPr>
            <a:r>
              <a:t>Token-2022 + Hook</a:t>
            </a:r>
          </a:p>
        </p:txBody>
      </p:sp>
      <p:sp>
        <p:nvSpPr>
          <p:cNvPr id="13" name="Chevron 12"/>
          <p:cNvSpPr/>
          <p:nvPr/>
        </p:nvSpPr>
        <p:spPr>
          <a:xfrm>
            <a:off x="8979408" y="2852928"/>
            <a:ext cx="411480" cy="594360"/>
          </a:xfrm>
          <a:prstGeom prst="chevron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2468880"/>
            <a:ext cx="2468880" cy="137160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7249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Wallet</a:t>
            </a:r>
          </a:p>
          <a:p>
            <a:pPr>
              <a:defRPr sz="1300">
                <a:solidFill>
                  <a:srgbClr val="D4D9EB"/>
                </a:solidFill>
              </a:defRPr>
            </a:pPr>
            <a:r>
              <a:t>Phantom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4D9EB"/>
                </a:solidFill>
              </a:defRPr>
            </a:pPr>
            <a:r>
              <a:t>Proof-of-asset: ЭЦП НУЦ РК hash в on-chain state</a:t>
            </a:r>
          </a:p>
          <a:p>
            <a:pPr>
              <a:defRPr sz="1700">
                <a:solidFill>
                  <a:srgbClr val="D4D9EB"/>
                </a:solidFill>
              </a:defRPr>
            </a:pPr>
            <a:r>
              <a:t>Модульная архитектура упрощает аудит и эволюцию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Competitors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972800" cy="452628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F195"/>
                </a:solidFill>
              </a:defRPr>
            </a:pPr>
            <a:r>
              <a:t>Категория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8288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F195"/>
                </a:solidFill>
              </a:defRPr>
            </a:pPr>
            <a:r>
              <a:t>Ограничение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F195"/>
                </a:solidFill>
              </a:defRPr>
            </a:pPr>
            <a:r>
              <a:t>Наше преимущество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611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Крауд/долевые платформы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2316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Ключевые шаги оффчейн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2316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On-chain lifecycle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73552"/>
            <a:ext cx="10515600" cy="18288"/>
          </a:xfrm>
          <a:prstGeom prst="rect">
            <a:avLst/>
          </a:prstGeom>
          <a:solidFill>
            <a:srgbClr val="46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20439"/>
            <a:ext cx="3611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REIT/фонды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20439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Нет прямой доли в объекте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520439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Доля по конкретному активу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370831"/>
            <a:ext cx="10515600" cy="18288"/>
          </a:xfrm>
          <a:prstGeom prst="rect">
            <a:avLst/>
          </a:prstGeom>
          <a:solidFill>
            <a:srgbClr val="46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3611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Global 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6177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Слабая локализация под KZ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17720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9EB"/>
                </a:solidFill>
              </a:defRPr>
            </a:pPr>
            <a:r>
              <a:t>ЭЦП НУЦ РК + local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468112"/>
            <a:ext cx="10515600" cy="18288"/>
          </a:xfrm>
          <a:prstGeom prst="rect">
            <a:avLst/>
          </a:prstGeom>
          <a:solidFill>
            <a:srgbClr val="46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Current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F"/>
                </a:solidFill>
              </a:defRPr>
            </a:pPr>
            <a:r>
              <a:t>Devnet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55648"/>
            <a:ext cx="4572000" cy="237744"/>
          </a:xfrm>
          <a:prstGeom prst="roundRect">
            <a:avLst/>
          </a:prstGeom>
          <a:solidFill>
            <a:srgbClr val="4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755648"/>
            <a:ext cx="3886200" cy="237744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71907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D9EB"/>
                </a:solidFill>
              </a:defRPr>
            </a:pPr>
            <a:r>
              <a:t>Готово: tokenization + primary + secondary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F"/>
                </a:solidFill>
              </a:defRPr>
            </a:pPr>
            <a:r>
              <a:t>Proof-of-asset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898648"/>
            <a:ext cx="4572000" cy="237744"/>
          </a:xfrm>
          <a:prstGeom prst="roundRect">
            <a:avLst/>
          </a:prstGeom>
          <a:solidFill>
            <a:srgbClr val="4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898648"/>
            <a:ext cx="4114800" cy="237744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86207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D9EB"/>
                </a:solidFill>
              </a:defRPr>
            </a:pPr>
            <a:r>
              <a:t>Готово: ЭЦП hash в on-chain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F"/>
                </a:solidFill>
              </a:defRPr>
            </a:pPr>
            <a:r>
              <a:t>TransferHook execute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041648"/>
            <a:ext cx="4572000" cy="237744"/>
          </a:xfrm>
          <a:prstGeom prst="roundRect">
            <a:avLst/>
          </a:prstGeom>
          <a:solidFill>
            <a:srgbClr val="4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4041648"/>
            <a:ext cx="2057400" cy="237744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00507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D9EB"/>
                </a:solidFill>
              </a:defRPr>
            </a:pPr>
            <a:r>
              <a:t>Next milestone: production-compatible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F"/>
                </a:solidFill>
              </a:defRPr>
            </a:pPr>
            <a:r>
              <a:t>Yield 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5184648"/>
            <a:ext cx="4572000" cy="237744"/>
          </a:xfrm>
          <a:prstGeom prst="roundRect">
            <a:avLst/>
          </a:prstGeom>
          <a:solidFill>
            <a:srgbClr val="41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5184648"/>
            <a:ext cx="1600200" cy="237744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514807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D9EB"/>
                </a:solidFill>
              </a:defRPr>
            </a:pPr>
            <a:r>
              <a:t>Next milestone: стабильный UX при USDC availability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29000"/>
            <a:ext cx="10241280" cy="54864"/>
          </a:xfrm>
          <a:prstGeom prst="rect">
            <a:avLst/>
          </a:prstGeom>
          <a:solidFill>
            <a:srgbClr val="676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3200400"/>
            <a:ext cx="502920" cy="5029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651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F6FF"/>
                </a:solidFill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4D9EB"/>
                </a:solidFill>
              </a:defRPr>
            </a:pPr>
            <a:r>
              <a:t>Devnet stabilization</a:t>
            </a:r>
            <a:br/>
            <a:r>
              <a:t>Security review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3200400"/>
            <a:ext cx="502920" cy="5029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651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F6FF"/>
                </a:solidFill>
              </a:defRPr>
            </a:pPr>
            <a: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8404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4D9EB"/>
                </a:solidFill>
              </a:defRPr>
            </a:pPr>
            <a:r>
              <a:t>Pilot with real</a:t>
            </a:r>
            <a:br/>
            <a:r>
              <a:t>property cases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3200400"/>
            <a:ext cx="502920" cy="5029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2" y="2651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F6FF"/>
                </a:solidFill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8404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4D9EB"/>
                </a:solidFill>
              </a:defRPr>
            </a:pPr>
            <a:r>
              <a:t>Mainnet rollout</a:t>
            </a:r>
            <a:br/>
            <a:r>
              <a:t>Compliance package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611880" cy="411480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1546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Product &amp; Strategy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Продуктовая логика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Roadmap и приоритеты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737360"/>
            <a:ext cx="3611880" cy="411480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31546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Solana / Smart Contracts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Anchor и Token-2022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Policy и lifecycle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737360"/>
            <a:ext cx="3611880" cy="4114800"/>
          </a:xfrm>
          <a:prstGeom prst="roundRect">
            <a:avLst/>
          </a:prstGeom>
          <a:solidFill>
            <a:srgbClr val="18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1546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Frontend / Integration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dApp UX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Wallet flow и demo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Contacts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737360"/>
            <a:ext cx="9875520" cy="3566160"/>
          </a:xfrm>
          <a:prstGeom prst="roundRect">
            <a:avLst/>
          </a:prstGeom>
          <a:solidFill>
            <a:srgbClr val="1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869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F195"/>
                </a:solidFill>
              </a:defRPr>
            </a:pPr>
            <a:r>
              <a:t>Demo: https://solana-rwa-tokenizer.vercel.app</a:t>
            </a:r>
          </a:p>
          <a:p>
            <a:pPr>
              <a:defRPr sz="1900" b="0">
                <a:solidFill>
                  <a:srgbClr val="F4F6FF"/>
                </a:solidFill>
              </a:defRPr>
            </a:pPr>
            <a:r>
              <a:t>GitHub: https://github.com/kuritsuku/solana-rwa-tokenizer</a:t>
            </a:r>
          </a:p>
          <a:p>
            <a:pPr>
              <a:defRPr sz="1900" b="0">
                <a:solidFill>
                  <a:srgbClr val="F4F6FF"/>
                </a:solidFill>
              </a:defRPr>
            </a:pPr>
            <a:r>
              <a:t>Telegram: @your_telegram_handle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754880"/>
            <a:ext cx="3474720" cy="347472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6FF"/>
                </a:solidFill>
              </a:defRPr>
            </a:pPr>
            <a:r>
              <a:t>Appendix (internal)</a:t>
            </a:r>
          </a:p>
          <a:p>
            <a:pPr>
              <a:defRPr sz="1600">
                <a:solidFill>
                  <a:srgbClr val="D4D9EB"/>
                </a:solidFill>
              </a:defRPr>
            </a:pPr>
            <a:r>
              <a:t>Слайд для внутренней репетиции, не для финального показа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10058400" cy="3200400"/>
          </a:xfrm>
          <a:prstGeom prst="roundRect">
            <a:avLst/>
          </a:prstGeom>
          <a:solidFill>
            <a:srgbClr val="2D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96012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6FF"/>
                </a:solidFill>
              </a:defRPr>
            </a:pPr>
            <a:r>
              <a:t>Reminder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Держать слайды минималистичными и фактологичными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На каждый слайд: 1 идея + 2-4 коротких пункта</a:t>
            </a:r>
          </a:p>
          <a:p>
            <a:pPr>
              <a:defRPr sz="1500">
                <a:solidFill>
                  <a:srgbClr val="D4D9EB"/>
                </a:solidFill>
              </a:defRPr>
            </a:pPr>
            <a:r>
              <a:t>Перед экспортом скрыть этот 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6446520"/>
            <a:ext cx="2834640" cy="256032"/>
          </a:xfrm>
          <a:prstGeom prst="round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